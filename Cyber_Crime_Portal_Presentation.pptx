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5400" b="1">
                <a:solidFill>
                  <a:srgbClr val="00F0FF"/>
                </a:solidFill>
                <a:latin typeface="Segoe UI"/>
              </a:defRPr>
            </a:pPr>
            <a:r>
              <a:t>CYBER CRIME PORTAL</a:t>
            </a:r>
          </a:p>
          <a:p>
            <a:pPr algn="l">
              <a:spcAft>
                <a:spcPts val="2000"/>
              </a:spcAft>
              <a:defRPr sz="2000">
                <a:solidFill>
                  <a:srgbClr val="F0F0F5"/>
                </a:solidFill>
                <a:latin typeface="Segoe UI"/>
              </a:defRPr>
            </a:pPr>
            <a:r>
              <a:t>A Secure, Role-Based, Real-Time Incident Reporting &amp; Case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931920"/>
            <a:ext cx="4114800" cy="36576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91A0"/>
                </a:solidFill>
                <a:latin typeface="Segoe UI Semibold"/>
              </a:defRPr>
            </a:pPr>
            <a:r>
              <a:t>Tech Stack: React 19 (Vite)  |  Node.js (Express)  |  Sequelize ORM  |  MySQL  |  Socket.IO</a:t>
            </a:r>
          </a:p>
          <a:p>
            <a:pPr>
              <a:spcBef>
                <a:spcPts val="800"/>
              </a:spcBef>
              <a:defRPr sz="1300">
                <a:solidFill>
                  <a:srgbClr val="8C91A0"/>
                </a:solidFill>
                <a:latin typeface="Segoe UI"/>
              </a:defRPr>
            </a:pPr>
            <a:r>
              <a:t>Designed for seamless anonymous reporting and structured investigation management.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01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Secure Reporting Platform</a:t>
            </a:r>
            <a:r>
              <a:rPr b="0">
                <a:solidFill>
                  <a:srgbClr val="F0F0F5"/>
                </a:solidFill>
              </a:rPr>
              <a:t>: Bridging the communication gap between citizens (who can file complaints officially or anonymously) and law enforcement agencies.</a:t>
            </a:r>
          </a:p>
          <a:p>
            <a:pPr>
              <a:spcAft>
                <a:spcPts val="14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Real-Time Subsystem</a:t>
            </a:r>
            <a:r>
              <a:rPr b="0">
                <a:solidFill>
                  <a:srgbClr val="F0F0F5"/>
                </a:solidFill>
              </a:rPr>
              <a:t>: The application leverages WebSockets via </a:t>
            </a:r>
            <a:r>
              <a:rPr b="1">
                <a:solidFill>
                  <a:srgbClr val="00F0FF"/>
                </a:solidFill>
              </a:rPr>
              <a:t>Socket.IO</a:t>
            </a:r>
            <a:r>
              <a:rPr b="0">
                <a:solidFill>
                  <a:srgbClr val="F0F0F5"/>
                </a:solidFill>
              </a:rPr>
              <a:t> to handle instantaneous notifications and case updates across all client instances.</a:t>
            </a:r>
          </a:p>
          <a:p>
            <a:pPr>
              <a:spcAft>
                <a:spcPts val="14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Decoupled Architecture</a:t>
            </a:r>
            <a:r>
              <a:rPr b="0">
                <a:solidFill>
                  <a:srgbClr val="F0F0F5"/>
                </a:solidFill>
              </a:rPr>
              <a:t>: Fully separated client-server design allowing modular scaling, strict access controls, and robust security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102352" cy="4389120"/>
          </a:xfrm>
          <a:prstGeom prst="roundRect">
            <a:avLst/>
          </a:prstGeom>
          <a:solidFill>
            <a:srgbClr val="0F0F1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53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F66"/>
                </a:solidFill>
                <a:latin typeface="Segoe UI"/>
              </a:defRPr>
            </a:pPr>
            <a:r>
              <a:t>CORE VALUE PROPOSITIONS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Privacy First</a:t>
            </a:r>
            <a:r>
              <a:rPr b="0">
                <a:solidFill>
                  <a:srgbClr val="F0F0F5"/>
                </a:solidFill>
              </a:rPr>
              <a:t>: Secure anonymous filing mode allows reporting sensitive cyber crimes without disclosing profile metadata.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Structured Cases</a:t>
            </a:r>
            <a:r>
              <a:rPr b="0">
                <a:solidFill>
                  <a:srgbClr val="F0F0F5"/>
                </a:solidFill>
              </a:rPr>
              <a:t>: Full digital chain of custody from filing to review, investigation, and final resolution.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Audit-Ready Files</a:t>
            </a:r>
            <a:r>
              <a:rPr b="0">
                <a:solidFill>
                  <a:srgbClr val="F0F0F5"/>
                </a:solidFill>
              </a:rPr>
              <a:t>: Both citizens and assigned officers can upload evidence files securely attached to individual complaints.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Interactive Dashboard</a:t>
            </a:r>
            <a:r>
              <a:rPr b="0">
                <a:solidFill>
                  <a:srgbClr val="F0F0F5"/>
                </a:solidFill>
              </a:rPr>
              <a:t>: Real-time analytical graphs, badges, and toaster alerts maintain live feedback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02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SYSTEM ARCHITECTURE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C91A0"/>
                </a:solidFill>
                <a:latin typeface="Segoe UI"/>
              </a:defRPr>
            </a:pPr>
            <a:r>
              <a:t>The platform is designed with a decoupled Client-Server architecture using modern web technologies: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328416" cy="4206240"/>
          </a:xfrm>
          <a:prstGeom prst="roundRect">
            <a:avLst/>
          </a:prstGeom>
          <a:solidFill>
            <a:srgbClr val="0F0F1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3328416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F0FF"/>
                </a:solidFill>
                <a:latin typeface="Segoe UI Semibold"/>
              </a:defRPr>
            </a:pPr>
            <a:r>
              <a:t>FRONTEND CLIENT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React 19 &amp; Vite</a:t>
            </a:r>
            <a:r>
              <a:t>: Ultra-fast build and render cycles.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Context API</a:t>
            </a:r>
            <a:r>
              <a:t>: Manage authentication state &amp; active sessions.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Axios Client</a:t>
            </a:r>
            <a:r>
              <a:t>: Custom interceptors handling JWT headers and error catchers.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Socket.IO Client</a:t>
            </a:r>
            <a:r>
              <a:t>: Establishes persistent real-time socket connections.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Themeable styling</a:t>
            </a:r>
            <a:r>
              <a:t>: Variable-based glassmorphic design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37360"/>
            <a:ext cx="3328416" cy="4206240"/>
          </a:xfrm>
          <a:prstGeom prst="roundRect">
            <a:avLst/>
          </a:prstGeom>
          <a:solidFill>
            <a:srgbClr val="0F0F1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737360"/>
            <a:ext cx="3328416" cy="73152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FF66"/>
                </a:solidFill>
                <a:latin typeface="Segoe UI Semibold"/>
              </a:defRPr>
            </a:pPr>
            <a:r>
              <a:t>BACKEND API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Node.js &amp; Express</a:t>
            </a:r>
            <a:r>
              <a:t>: Handles asynchronous HTTP routes &amp; static evidence assets.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Socket.IO Server</a:t>
            </a:r>
            <a:r>
              <a:t>: Manages WebSocket handshakes, state tracking, and rooms.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JWT &amp; BCrypt</a:t>
            </a:r>
            <a:r>
              <a:t>: Issues access tokens &amp; implements secure password hashing.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Sequelize ORM</a:t>
            </a:r>
            <a:r>
              <a:t>: Manages schema sync, transactions, and seeding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1737360"/>
            <a:ext cx="3328416" cy="4206240"/>
          </a:xfrm>
          <a:prstGeom prst="roundRect">
            <a:avLst/>
          </a:prstGeom>
          <a:solidFill>
            <a:srgbClr val="0F0F1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5592" y="1737360"/>
            <a:ext cx="3328416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92024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F0FF"/>
                </a:solidFill>
                <a:latin typeface="Segoe UI Semibold"/>
              </a:defRPr>
            </a:pPr>
            <a:r>
              <a:t>DATABASE ENGINE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MySQL 8.4 Server</a:t>
            </a:r>
            <a:r>
              <a:t>: Reliable relational data storage engine.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Entity Relations</a:t>
            </a:r>
            <a:r>
              <a:t>: Configured foreign key dependencies and cascades.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Auto Seeding</a:t>
            </a:r>
            <a:r>
              <a:t>: Auto-checks database state and seeds admin, user, and officers.</a:t>
            </a:r>
          </a:p>
          <a:p>
            <a:pPr>
              <a:spcAft>
                <a:spcPts val="600"/>
              </a:spcAft>
              <a:defRPr sz="1200">
                <a:solidFill>
                  <a:srgbClr val="F0F0F5"/>
                </a:solidFill>
                <a:latin typeface="Segoe UI"/>
              </a:defRPr>
            </a:pPr>
            <a:r>
              <a:t/>
            </a:r>
            <a:r>
              <a:rPr b="1">
                <a:solidFill>
                  <a:srgbClr val="00F0FF"/>
                </a:solidFill>
              </a:rPr>
              <a:t>Isolated Data</a:t>
            </a:r>
            <a:r>
              <a:t>: Localized data folders (`mysql_data`) for portable setups.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03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DATABASE ARCHITECTURE &amp; SCHEMAS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Users Table (`users`)</a:t>
            </a:r>
            <a:r>
              <a:rPr b="0">
                <a:solidFill>
                  <a:srgbClr val="F0F0F5"/>
                </a:solidFill>
              </a:rPr>
              <a:t>: Stores credentials, profile info, and accounts roles (`ROLE_CITIZEN`, `ROLE_OFFICER`, `ROLE_ADMIN`).</a:t>
            </a:r>
          </a:p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Complaints Table (`complaints`)</a:t>
            </a:r>
            <a:r>
              <a:rPr b="0">
                <a:solidFill>
                  <a:srgbClr val="F0F0F5"/>
                </a:solidFill>
              </a:rPr>
              <a:t>: Stores case titles, categories, priorities (`LOW`/`MEDIUM`/`HIGH`), status state, and foreign keys for author &amp; officer.</a:t>
            </a:r>
          </a:p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Evidence Files (`evidence_files`)</a:t>
            </a:r>
            <a:r>
              <a:rPr b="0">
                <a:solidFill>
                  <a:srgbClr val="F0F0F5"/>
                </a:solidFill>
              </a:rPr>
              <a:t>: Tracks paths and meta of uploads attached by citizens during case creation.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Officer Notes Table (`officer_notes`)</a:t>
            </a:r>
            <a:r>
              <a:rPr b="0">
                <a:solidFill>
                  <a:srgbClr val="F0F0F5"/>
                </a:solidFill>
              </a:rPr>
              <a:t>: Stores detailed investigation logs added by officers. Tied to officer and case.</a:t>
            </a:r>
          </a:p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Evidence Uploads (`evidence_uploads`)</a:t>
            </a:r>
            <a:r>
              <a:rPr b="0">
                <a:solidFill>
                  <a:srgbClr val="F0F0F5"/>
                </a:solidFill>
              </a:rPr>
              <a:t>: Tracks documents and media uploaded by officers during the investigation phase.</a:t>
            </a:r>
          </a:p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Notifications Table (`notifications`)</a:t>
            </a:r>
            <a:r>
              <a:rPr b="0">
                <a:solidFill>
                  <a:srgbClr val="F0F0F5"/>
                </a:solidFill>
              </a:rPr>
              <a:t>: Stores persistent notifications (`INFO`, `WARNING`, `SUCCESS`, `ERROR`) sent to users, tracking read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04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REAL-TIME NOTIFICATION SUBSYSTEM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Direct Room Strategy</a:t>
            </a:r>
            <a:r>
              <a:rPr b="0">
                <a:solidFill>
                  <a:srgbClr val="F0F0F5"/>
                </a:solidFill>
              </a:rPr>
              <a:t>: Upon connection and JWT validation, a socket joins a room named `user_&lt;userId&gt;`. This allows directed alerts to a specific citizen or officer.</a:t>
            </a:r>
          </a:p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Role-Based Rooms</a:t>
            </a:r>
            <a:r>
              <a:rPr b="0">
                <a:solidFill>
                  <a:srgbClr val="F0F0F5"/>
                </a:solidFill>
              </a:rPr>
              <a:t>: Users also join rooms representing their roles (`admin`, `officer`, `citizen`), enabling group broadcasts.</a:t>
            </a:r>
          </a:p>
          <a:p>
            <a:pPr>
              <a:spcAft>
                <a:spcPts val="1200"/>
              </a:spcAft>
              <a:defRPr sz="14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Toast alerts</a:t>
            </a:r>
            <a:r>
              <a:rPr b="0">
                <a:solidFill>
                  <a:srgbClr val="F0F0F5"/>
                </a:solidFill>
              </a:rPr>
              <a:t>: Incoming WebSocket notifications instantly trigger animations and toast popups in the React application using `React Hot Toast`.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85232" cy="4389120"/>
          </a:xfrm>
          <a:prstGeom prst="roundRect">
            <a:avLst/>
          </a:prstGeom>
          <a:solidFill>
            <a:srgbClr val="0F0F1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365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0FF"/>
                </a:solidFill>
                <a:latin typeface="Segoe UI"/>
              </a:defRPr>
            </a:pPr>
            <a:r>
              <a:t>EVENT TRIGGERS &amp; PAYLOAD FLOW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1. Complaint Submitted</a:t>
            </a:r>
            <a:r>
              <a:rPr b="0">
                <a:solidFill>
                  <a:srgbClr val="F0F0F5"/>
                </a:solidFill>
              </a:rPr>
              <a:t>: Broadcasts payload to the `admin` room. All admin badges increment instantly.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2. Case Assigned</a:t>
            </a:r>
            <a:r>
              <a:rPr b="0">
                <a:solidFill>
                  <a:srgbClr val="F0F0F5"/>
                </a:solidFill>
              </a:rPr>
              <a:t>: Direct server message sent to `user_&lt;officerId&gt;`. Officer dashboard updates.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3. Status Updated</a:t>
            </a:r>
            <a:r>
              <a:rPr b="0">
                <a:solidFill>
                  <a:srgbClr val="F0F0F5"/>
                </a:solidFill>
              </a:rPr>
              <a:t>: Server notifies `user_&lt;citizenId&gt;`. Citizen receives green/amber progress notifications.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4. Case Resolved</a:t>
            </a:r>
            <a:r>
              <a:rPr b="0">
                <a:solidFill>
                  <a:srgbClr val="F0F0F5"/>
                </a:solidFill>
              </a:rPr>
              <a:t>: Notifies both citizen and admins. Success toaster fired client-side.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05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CITIZEN PORTAL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Anonymous Reporting Mode</a:t>
            </a:r>
            <a:r>
              <a:rPr b="0">
                <a:solidFill>
                  <a:srgbClr val="F0F0F5"/>
                </a:solidFill>
              </a:rPr>
              <a:t>: Citizens can report crimes anonymously. In this mode, their identity metadata is masked in the public case view, encouraging safe whistleblowing.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Official Complaint Filing</a:t>
            </a:r>
            <a:r>
              <a:rPr b="0">
                <a:solidFill>
                  <a:srgbClr val="F0F0F5"/>
                </a:solidFill>
              </a:rPr>
              <a:t>: Comprehensive forms that collect crime categories, incident dates, descriptions, priority levels, location metadata, and file uploads.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Evidence Attachments</a:t>
            </a:r>
            <a:r>
              <a:rPr b="0">
                <a:solidFill>
                  <a:srgbClr val="F0F0F5"/>
                </a:solidFill>
              </a:rPr>
              <a:t>: Support for uploading evidence files (images, PDFs, documents) during the initial case submission.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Dynamic Interactive Dashboard</a:t>
            </a:r>
            <a:r>
              <a:rPr b="0">
                <a:solidFill>
                  <a:srgbClr val="F0F0F5"/>
                </a:solidFill>
              </a:rPr>
              <a:t>: Citizens can trace their case history, view active case statuses, and review historic notifications dynamically.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Real-Time Alerts</a:t>
            </a:r>
            <a:r>
              <a:rPr b="0">
                <a:solidFill>
                  <a:srgbClr val="F0F0F5"/>
                </a:solidFill>
              </a:rPr>
              <a:t>: Sound cues, shaking navigation bell badges, and visual toasts notify citizens instantly of officer assignments or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06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OFFICER PORTAL &amp; INVESTIGATIVE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Case Queue</a:t>
            </a:r>
            <a:r>
              <a:rPr b="0">
                <a:solidFill>
                  <a:srgbClr val="F0F0F5"/>
                </a:solidFill>
              </a:rPr>
              <a:t>: A structured workflow view showing all active cyber crime complaints assigned to the logged-in officer.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Timeline Journal Notes</a:t>
            </a:r>
            <a:r>
              <a:rPr b="0">
                <a:solidFill>
                  <a:srgbClr val="F0F0F5"/>
                </a:solidFill>
              </a:rPr>
              <a:t>: Internal database logs where officers can append notes, progress details, interview summaries, and investigative findings.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Evidence Uploads</a:t>
            </a:r>
            <a:r>
              <a:rPr b="0">
                <a:solidFill>
                  <a:srgbClr val="F0F0F5"/>
                </a:solidFill>
              </a:rPr>
              <a:t>: Allows officers to upload new evidence documents, forensics files, or reports found during active investigations.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Case Status Management</a:t>
            </a:r>
            <a:r>
              <a:rPr b="0">
                <a:solidFill>
                  <a:srgbClr val="F0F0F5"/>
                </a:solidFill>
              </a:rPr>
              <a:t>: Controls to transition complaints between states: `UNDER_REVIEW` -&gt; `INVESTIGATING` -&gt; `RESOLVED` / `REJECTED`.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Automatic Notification Sync</a:t>
            </a:r>
            <a:r>
              <a:rPr b="0">
                <a:solidFill>
                  <a:srgbClr val="F0F0F5"/>
                </a:solidFill>
              </a:rPr>
              <a:t>: Updating status states instantly triggers websocket pushes to alert the reporting citizen.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07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ADMIN PANEL &amp; SYSTEM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System Analytics Dashboard</a:t>
            </a:r>
            <a:r>
              <a:rPr b="0">
                <a:solidFill>
                  <a:srgbClr val="F0F0F5"/>
                </a:solidFill>
              </a:rPr>
              <a:t>: Real-time graphs showing breakdown of complaints by status (submitted, resolving, rejected), category, and priority (high, medium, low).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Complaint Assignment Panel</a:t>
            </a:r>
            <a:r>
              <a:rPr b="0">
                <a:solidFill>
                  <a:srgbClr val="F0F0F5"/>
                </a:solidFill>
              </a:rPr>
              <a:t>: Enables administrators to review new filings and assign appropriate investigation officers to cases.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User Account Controls</a:t>
            </a:r>
            <a:r>
              <a:rPr b="0">
                <a:solidFill>
                  <a:srgbClr val="F0F0F5"/>
                </a:solidFill>
              </a:rPr>
              <a:t>: Allows administrators to view citizen profiles, email logs, and toggle users' status between `ACTIVE` and `DISABLED`.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Officer Onboarding</a:t>
            </a:r>
            <a:r>
              <a:rPr b="0">
                <a:solidFill>
                  <a:srgbClr val="F0F0F5"/>
                </a:solidFill>
              </a:rPr>
              <a:t>: Secure forms to register new officers, assign default credentials, and configure investigation access clearance.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Data Audit Controls</a:t>
            </a:r>
            <a:r>
              <a:rPr b="0">
                <a:solidFill>
                  <a:srgbClr val="F0F0F5"/>
                </a:solidFill>
              </a:rPr>
              <a:t>: System rights to remove erroneous logs, manage core database syncs, and clear global notification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08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UI/UX DESIGN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Cyberpunk Design Palette</a:t>
            </a:r>
            <a:r>
              <a:rPr b="0">
                <a:solidFill>
                  <a:srgbClr val="F0F0F5"/>
                </a:solidFill>
              </a:rPr>
              <a:t>: Built around modern theme variables: Space Navy Background (`#07070d`), Electric Cyan Accents (`#00f0ff`), and glowing Alert Pink (`#ff0055`).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Glassmorphism Effects</a:t>
            </a:r>
            <a:r>
              <a:rPr b="0">
                <a:solidFill>
                  <a:srgbClr val="F0F0F5"/>
                </a:solidFill>
              </a:rPr>
              <a:t>: CSS variables with background blur (`backdrop-filter: blur(12px)`) and semi-transparent border frames, creating a sleek cyber-security command center feel.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Micro-Animations</a:t>
            </a:r>
            <a:r>
              <a:rPr b="0">
                <a:solidFill>
                  <a:srgbClr val="F0F0F5"/>
                </a:solidFill>
              </a:rPr>
              <a:t>: Framer Motion handles slide transitions, list deletions, and drawer panels. Custom CSS `@keyframes shake` adds haptic notifications to the bell button.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Responsive Layouts</a:t>
            </a:r>
            <a:r>
              <a:rPr b="0">
                <a:solidFill>
                  <a:srgbClr val="F0F0F5"/>
                </a:solidFill>
              </a:rPr>
              <a:t>: Flexible grid configurations and media queries ensure the portal displays optimally across laptops, tablets, and mobile screens.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Clear Feedback Loops</a:t>
            </a:r>
            <a:r>
              <a:rPr b="0">
                <a:solidFill>
                  <a:srgbClr val="F0F0F5"/>
                </a:solidFill>
              </a:rPr>
              <a:t>: Live indicator light rings (green for active, pulse for alerts) keep users visually connected to connection states.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09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SECURITY &amp; DATA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Password Hashing (BCryptJS)</a:t>
            </a:r>
            <a:r>
              <a:rPr b="0">
                <a:solidFill>
                  <a:srgbClr val="F0F0F5"/>
                </a:solidFill>
              </a:rPr>
              <a:t>: Solid protection using bcryptjs hashing with salt. Plain-text credentials are never written to the database or output logs.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JSON Web Token Auth</a:t>
            </a:r>
            <a:r>
              <a:rPr b="0">
                <a:solidFill>
                  <a:srgbClr val="F0F0F5"/>
                </a:solidFill>
              </a:rPr>
              <a:t>: Stateless user sessions managed via securely signed JWTs passed through request header interceptors.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Role-Based Access Control (RBAC)</a:t>
            </a:r>
            <a:r>
              <a:rPr b="0">
                <a:solidFill>
                  <a:srgbClr val="F0F0F5"/>
                </a:solidFill>
              </a:rPr>
              <a:t>: Middleware validation filters API endpoints. React route guards isolate dashboards by role (`ROLE_CITIZEN`, `ROLE_OFFICER`, `ROLE_ADMIN`).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Sequelize Parameterization</a:t>
            </a:r>
            <a:r>
              <a:rPr b="0">
                <a:solidFill>
                  <a:srgbClr val="F0F0F5"/>
                </a:solidFill>
              </a:rPr>
              <a:t>: Enforces strict database parameter mapping to prevent SQL Injection vulnerabilities.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CORS &amp; File Validation</a:t>
            </a:r>
            <a:r>
              <a:rPr b="0">
                <a:solidFill>
                  <a:srgbClr val="F0F0F5"/>
                </a:solidFill>
              </a:rPr>
              <a:t>: Confirms evidence file uploads conform to sizes and formats, protecting backend directories from scripts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10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SETUP &amp; RUNNING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Automated Startup Script</a:t>
            </a:r>
            <a:r>
              <a:rPr b="0">
                <a:solidFill>
                  <a:srgbClr val="F0F0F5"/>
                </a:solidFill>
              </a:rPr>
              <a:t>: Windows users can start the entire project using `start-services.bat` in the root folder.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Batch Script Functions</a:t>
            </a:r>
            <a:r>
              <a:rPr b="0">
                <a:solidFill>
                  <a:srgbClr val="F0F0F5"/>
                </a:solidFill>
              </a:rPr>
              <a:t>: Installs frontend &amp; backend nodes, initialises local `mysql_data` workspace, provisions database, seeds test credentials, and launches frontend in standard browser.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Manual Starting Commands</a:t>
            </a:r>
            <a:r>
              <a:rPr b="0">
                <a:solidFill>
                  <a:srgbClr val="F0F0F5"/>
                </a:solidFill>
              </a:rPr>
              <a:t>: If running manually:
  - Database: Use custom port `3306` &amp; datadir.
  - Backend API: `npm run dev` (runs on port `8080`).
  - React Client: `npm run dev` (runs on port `5173`).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85232" cy="4389120"/>
          </a:xfrm>
          <a:prstGeom prst="roundRect">
            <a:avLst/>
          </a:prstGeom>
          <a:solidFill>
            <a:srgbClr val="0F0F1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7365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F66"/>
                </a:solidFill>
                <a:latin typeface="Segoe UI"/>
              </a:defRPr>
            </a:pPr>
            <a:r>
              <a:t>DEMO ACCOUNTS (AUTO-SEEDED)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Administrator Account</a:t>
            </a:r>
            <a:r>
              <a:rPr b="0">
                <a:solidFill>
                  <a:srgbClr val="F0F0F5"/>
                </a:solidFill>
              </a:rPr>
              <a:t>:
  - Email: `admin@gmail.com`
  - Password: `admin123`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Citizen Account</a:t>
            </a:r>
            <a:r>
              <a:rPr b="0">
                <a:solidFill>
                  <a:srgbClr val="F0F0F5"/>
                </a:solidFill>
              </a:rPr>
              <a:t>:
  - Email: `user@gmail.com`
  - Password: `user1234`</a:t>
            </a:r>
          </a:p>
          <a:p>
            <a:pPr>
              <a:spcAft>
                <a:spcPts val="800"/>
              </a:spcAft>
              <a:defRPr sz="12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Officer Account</a:t>
            </a:r>
            <a:r>
              <a:rPr b="0">
                <a:solidFill>
                  <a:srgbClr val="F0F0F5"/>
                </a:solidFill>
              </a:rPr>
              <a:t>:
  - Email: `officer@gmail.com`
  - Password: `officer123`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82880"/>
            <a:ext cx="45720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F0FF"/>
                </a:solidFill>
                <a:latin typeface="Segoe UI"/>
              </a:rPr>
              <a:t>11  |  </a:t>
            </a:r>
            <a:r>
              <a:rPr sz="2800" b="1">
                <a:solidFill>
                  <a:srgbClr val="F0F0F5"/>
                </a:solidFill>
                <a:latin typeface="Segoe UI"/>
              </a:rPr>
              <a:t>CONCLUSION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Technical Achievements</a:t>
            </a:r>
            <a:r>
              <a:rPr b="0">
                <a:solidFill>
                  <a:srgbClr val="F0F0F5"/>
                </a:solidFill>
              </a:rPr>
              <a:t>: Delivered a fully functional, real-time cyber security portal with structured workflows and secure separation of user capabilities.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High Scalability</a:t>
            </a:r>
            <a:r>
              <a:rPr b="0">
                <a:solidFill>
                  <a:srgbClr val="F0F0F5"/>
                </a:solidFill>
              </a:rPr>
              <a:t>: The decoupled client-server structure allows deploying the backend to serverless instances and database to dedicated instances without codebase changes.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Future Enhancement 1 - AI Classifiers</a:t>
            </a:r>
            <a:r>
              <a:rPr b="0">
                <a:solidFill>
                  <a:srgbClr val="F0F0F5"/>
                </a:solidFill>
              </a:rPr>
              <a:t>: Implement NLP models on the backend to automatically categorize crime reports and flag high-priority complaints based on description content.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Future Enhancement 2 - Blockchain Auditing</a:t>
            </a:r>
            <a:r>
              <a:rPr b="0">
                <a:solidFill>
                  <a:srgbClr val="F0F0F5"/>
                </a:solidFill>
              </a:rPr>
              <a:t>: Use distributed ledger technology to store file hashes for evidence submissions, ensuring tamper-proof chain of custody.</a:t>
            </a:r>
          </a:p>
          <a:p>
            <a:pPr>
              <a:spcAft>
                <a:spcPts val="1200"/>
              </a:spcAft>
              <a:defRPr sz="1500">
                <a:latin typeface="Segoe UI"/>
              </a:defRPr>
            </a:pPr>
            <a:r>
              <a:rPr b="1">
                <a:solidFill>
                  <a:srgbClr val="00F0FF"/>
                </a:solidFill>
              </a:rPr>
              <a:t>▪  </a:t>
            </a:r>
            <a:r>
              <a:rPr b="1">
                <a:solidFill>
                  <a:srgbClr val="00F0FF"/>
                </a:solidFill>
              </a:rPr>
              <a:t>Future Enhancement 3 - In-App Chat Rooms</a:t>
            </a:r>
            <a:r>
              <a:rPr b="0">
                <a:solidFill>
                  <a:srgbClr val="F0F0F5"/>
                </a:solidFill>
              </a:rPr>
              <a:t>: Real-time communication bridge between the citizen and the assigned investigator for instant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